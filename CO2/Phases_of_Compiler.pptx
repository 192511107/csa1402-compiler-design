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04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2062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OF A COMPILER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Code to Target Code — A Technical Walkthrough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82296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4160520"/>
            <a:ext cx="5486400" cy="956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BY: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CHARAN P(192511107)</a:t>
            </a:r>
            <a:endParaRPr lang="en-US" sz="13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A197D-2A7F-6E1D-F622-7BF0F7CB053A}"/>
              </a:ext>
            </a:extLst>
          </p:cNvPr>
          <p:cNvSpPr txBox="1"/>
          <p:nvPr/>
        </p:nvSpPr>
        <p:spPr>
          <a:xfrm>
            <a:off x="427015" y="4983480"/>
            <a:ext cx="305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CSA1402-COMPILER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Compiler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translates source code into target code through six core phases.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12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48840" y="26060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04872" y="210312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04872" y="2212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50592" y="2651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05072" y="26060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61104" y="210312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61104" y="2212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06824" y="2651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61304" y="26060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17336" y="210312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0A896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17336" y="2212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63056" y="2651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17536" y="26060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973568" y="210312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0A896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73568" y="2212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19288" y="2651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573768" y="26060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829800" y="2103120"/>
            <a:ext cx="1600200" cy="1600200"/>
          </a:xfrm>
          <a:prstGeom prst="roundRect">
            <a:avLst>
              <a:gd name="adj" fmla="val 6857"/>
            </a:avLst>
          </a:prstGeom>
          <a:solidFill>
            <a:srgbClr val="00A896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29800" y="2212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75520" y="2651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3931920"/>
            <a:ext cx="5312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 (Analysis)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17336" y="3931920"/>
            <a:ext cx="5312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 (Synthesis)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0515600" cy="685800"/>
          </a:xfrm>
          <a:prstGeom prst="roundRect">
            <a:avLst>
              <a:gd name="adj" fmla="val 13333"/>
            </a:avLst>
          </a:prstGeom>
          <a:solidFill>
            <a:srgbClr val="F0F6F6"/>
          </a:solidFill>
          <a:ln w="12700">
            <a:solidFill>
              <a:srgbClr val="D5E4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920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components: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Management (tracks variables/functions) and Error Handling — both active across all phases.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ound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Scanning. First phase of the compiler front end — works directly on raw source 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5989320"/>
            <a:ext cx="54864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080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example: Lex / Flex generate lexical analyzers automatically.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502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868680"/>
            <a:ext cx="7498080" cy="685800"/>
          </a:xfrm>
          <a:prstGeom prst="roundRect">
            <a:avLst>
              <a:gd name="adj" fmla="val 10667"/>
            </a:avLst>
          </a:prstGeom>
          <a:solidFill>
            <a:srgbClr val="F0F6F6"/>
          </a:solidFill>
          <a:ln w="12700">
            <a:solidFill>
              <a:srgbClr val="D5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8686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a + b *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1783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220370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279392" y="20939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characters into tokens — keywords, identifiers, operators, constants.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77063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279392" y="266090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Whitespace/Comments: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out spaces, tabs, newlines, and comments.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33375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279392" y="32278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Lexeme Matching: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regular expressions / finite automata to match patterns.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390448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37947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illegal characters or malformed tokens.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77640" y="447141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279392" y="43616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id(x)  =  id(a)  +  id(b)  *  num(2) — a token stream.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ound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Parsing. Takes the token stream and checks it against the language's grammar rules.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5989320"/>
            <a:ext cx="54864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080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example: YACC / Bison generate syntax parsers automatically.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502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 (Tokens)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868680"/>
            <a:ext cx="7498080" cy="685800"/>
          </a:xfrm>
          <a:prstGeom prst="roundRect">
            <a:avLst>
              <a:gd name="adj" fmla="val 10667"/>
            </a:avLst>
          </a:prstGeom>
          <a:solidFill>
            <a:srgbClr val="F0F6F6"/>
          </a:solidFill>
          <a:ln w="12700">
            <a:solidFill>
              <a:srgbClr val="D5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8686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id + id * num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1783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220370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279392" y="20939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Checking: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token sequence against context-free grammar (CFG).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77063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279392" y="266090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hierarchical tree showing grammatical structure.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33375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279392" y="32278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Handling: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operator precedence, e.g. * before +.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390448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37947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missing semicolons, unmatched brackets, invalid syntax.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77640" y="447141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279392" y="43616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syntax tree passed on to semantic analysis.</a:t>
            </a:r>
            <a:endParaRPr lang="en-US" sz="13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6BB0B4-7181-ED48-DD45-6EA84FA0735C}"/>
              </a:ext>
            </a:extLst>
          </p:cNvPr>
          <p:cNvSpPr txBox="1"/>
          <p:nvPr/>
        </p:nvSpPr>
        <p:spPr>
          <a:xfrm>
            <a:off x="8961505" y="4297680"/>
            <a:ext cx="20418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EXAMPLE:     </a:t>
            </a:r>
          </a:p>
          <a:p>
            <a:r>
              <a:rPr lang="en-IN" dirty="0"/>
              <a:t>       =</a:t>
            </a:r>
          </a:p>
          <a:p>
            <a:r>
              <a:rPr lang="en-IN" dirty="0"/>
              <a:t>      /   \</a:t>
            </a:r>
          </a:p>
          <a:p>
            <a:r>
              <a:rPr lang="en-IN" dirty="0"/>
              <a:t>     a     +</a:t>
            </a:r>
          </a:p>
          <a:p>
            <a:r>
              <a:rPr lang="en-IN" dirty="0"/>
              <a:t>          / \</a:t>
            </a:r>
          </a:p>
          <a:p>
            <a:r>
              <a:rPr lang="en-IN" dirty="0"/>
              <a:t>         b   *</a:t>
            </a:r>
          </a:p>
          <a:p>
            <a:r>
              <a:rPr lang="en-IN" dirty="0"/>
              <a:t>            / \</a:t>
            </a:r>
          </a:p>
          <a:p>
            <a:r>
              <a:rPr lang="en-IN" dirty="0"/>
              <a:t>           c  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ound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the parse tree is meaningful, not just grammatically valid.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5989320"/>
            <a:ext cx="54864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080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here: type mismatch, undeclared variable, invalid scope.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502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Check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868680"/>
            <a:ext cx="7498080" cy="685800"/>
          </a:xfrm>
          <a:prstGeom prst="roundRect">
            <a:avLst>
              <a:gd name="adj" fmla="val 10667"/>
            </a:avLst>
          </a:prstGeom>
          <a:solidFill>
            <a:srgbClr val="F0F6F6"/>
          </a:solidFill>
          <a:ln w="12700">
            <a:solidFill>
              <a:srgbClr val="D5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8686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"hello";  →  Error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1783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220370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279392" y="20939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operations use compatible data types.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7706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279392" y="266090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Resolution: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variables/functions are declared before use.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333756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279392" y="32278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Update: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identifier attributes — type, scope, size.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39044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37947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implicit conversions where the language allows them.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77640" y="44714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279392" y="43616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annotated (semantically verified) syntax tree.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E1F8C6A-C14D-1F07-E3DF-903B71ECD728}"/>
              </a:ext>
            </a:extLst>
          </p:cNvPr>
          <p:cNvSpPr/>
          <p:nvPr/>
        </p:nvSpPr>
        <p:spPr>
          <a:xfrm>
            <a:off x="0" y="0"/>
            <a:ext cx="3566160" cy="6858000"/>
          </a:xfrm>
          <a:prstGeom prst="roundRect">
            <a:avLst/>
          </a:prstGeom>
          <a:solidFill>
            <a:srgbClr val="0B2E33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FEDBC-DB69-D15B-F658-A6C1B1988FE0}"/>
              </a:ext>
            </a:extLst>
          </p:cNvPr>
          <p:cNvSpPr txBox="1"/>
          <p:nvPr/>
        </p:nvSpPr>
        <p:spPr>
          <a:xfrm>
            <a:off x="845388" y="1570008"/>
            <a:ext cx="207033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b="1" dirty="0"/>
          </a:p>
          <a:p>
            <a:endParaRPr lang="en-IN" dirty="0">
              <a:solidFill>
                <a:schemeClr val="bg2"/>
              </a:solidFill>
            </a:endParaRPr>
          </a:p>
          <a:p>
            <a:r>
              <a:rPr lang="en-IN" dirty="0">
                <a:solidFill>
                  <a:schemeClr val="bg2"/>
                </a:solidFill>
              </a:rPr>
              <a:t>INTERMEDIATE CODE GENERATOR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14F23-C744-DDBA-28F5-284592238CFB}"/>
              </a:ext>
            </a:extLst>
          </p:cNvPr>
          <p:cNvSpPr txBox="1"/>
          <p:nvPr/>
        </p:nvSpPr>
        <p:spPr>
          <a:xfrm>
            <a:off x="4162965" y="2493338"/>
            <a:ext cx="71836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Tasks:</a:t>
            </a:r>
            <a:endParaRPr lang="en-US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Produces machine-independent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Simplifies code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Makes it easier to generate code for different target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Improves compiler portability and </a:t>
            </a:r>
            <a:r>
              <a:rPr lang="en-IN" dirty="0" err="1"/>
              <a:t>retargetability</a:t>
            </a:r>
            <a:r>
              <a:rPr lang="en-IN" dirty="0"/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45473-1B1C-479A-6FA2-4440D51557E0}"/>
              </a:ext>
            </a:extLst>
          </p:cNvPr>
          <p:cNvSpPr txBox="1"/>
          <p:nvPr/>
        </p:nvSpPr>
        <p:spPr>
          <a:xfrm>
            <a:off x="6012610" y="5494874"/>
            <a:ext cx="46474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EXAMPLE:</a:t>
            </a:r>
          </a:p>
          <a:p>
            <a:r>
              <a:rPr lang="en-IN" dirty="0"/>
              <a:t>t1 = c * 2</a:t>
            </a:r>
          </a:p>
          <a:p>
            <a:r>
              <a:rPr lang="en-IN" dirty="0"/>
              <a:t>t2 = b + t1</a:t>
            </a:r>
          </a:p>
          <a:p>
            <a:r>
              <a:rPr lang="en-IN" dirty="0"/>
              <a:t>a = t2</a:t>
            </a:r>
          </a:p>
        </p:txBody>
      </p:sp>
    </p:spTree>
    <p:extLst>
      <p:ext uri="{BB962C8B-B14F-4D97-AF65-F5344CB8AC3E}">
        <p14:creationId xmlns:p14="http://schemas.microsoft.com/office/powerpoint/2010/main" val="194334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6B873EF-194C-FB34-C9BB-D53173B840CA}"/>
              </a:ext>
            </a:extLst>
          </p:cNvPr>
          <p:cNvSpPr/>
          <p:nvPr/>
        </p:nvSpPr>
        <p:spPr>
          <a:xfrm>
            <a:off x="0" y="0"/>
            <a:ext cx="3566160" cy="6858000"/>
          </a:xfrm>
          <a:prstGeom prst="roundRect">
            <a:avLst/>
          </a:prstGeom>
          <a:solidFill>
            <a:srgbClr val="0B2E33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3E43D-EAA2-AD5E-9844-C7416F9E7463}"/>
              </a:ext>
            </a:extLst>
          </p:cNvPr>
          <p:cNvSpPr txBox="1"/>
          <p:nvPr/>
        </p:nvSpPr>
        <p:spPr>
          <a:xfrm>
            <a:off x="396816" y="2634568"/>
            <a:ext cx="261725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IN" sz="2800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CODE OPTIMIZATION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5DA0BA-22D5-3EBF-3963-EE17815B0E76}"/>
              </a:ext>
            </a:extLst>
          </p:cNvPr>
          <p:cNvSpPr txBox="1"/>
          <p:nvPr/>
        </p:nvSpPr>
        <p:spPr>
          <a:xfrm>
            <a:off x="4556904" y="1904356"/>
            <a:ext cx="60945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 execution speed.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 memory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 code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Eliminate unnecessary computations.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2D6F3-0E7B-00FA-6A79-BD1B0D62705E}"/>
              </a:ext>
            </a:extLst>
          </p:cNvPr>
          <p:cNvSpPr txBox="1"/>
          <p:nvPr/>
        </p:nvSpPr>
        <p:spPr>
          <a:xfrm>
            <a:off x="5126248" y="4709872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EXAMPLE:</a:t>
            </a:r>
          </a:p>
          <a:p>
            <a:r>
              <a:rPr lang="en-IN" dirty="0"/>
              <a:t>T1 = c &lt;&lt; 1</a:t>
            </a:r>
          </a:p>
          <a:p>
            <a:r>
              <a:rPr lang="en-IN" dirty="0"/>
              <a:t>t2 = b + t1</a:t>
            </a:r>
          </a:p>
          <a:p>
            <a:r>
              <a:rPr lang="en-IN" dirty="0"/>
              <a:t>a = t2</a:t>
            </a:r>
          </a:p>
        </p:txBody>
      </p:sp>
    </p:spTree>
    <p:extLst>
      <p:ext uri="{BB962C8B-B14F-4D97-AF65-F5344CB8AC3E}">
        <p14:creationId xmlns:p14="http://schemas.microsoft.com/office/powerpoint/2010/main" val="299752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47F38A7-552E-5F20-073F-D86645410887}"/>
              </a:ext>
            </a:extLst>
          </p:cNvPr>
          <p:cNvSpPr/>
          <p:nvPr/>
        </p:nvSpPr>
        <p:spPr>
          <a:xfrm>
            <a:off x="0" y="0"/>
            <a:ext cx="3566160" cy="6858000"/>
          </a:xfrm>
          <a:prstGeom prst="roundRect">
            <a:avLst/>
          </a:prstGeom>
          <a:solidFill>
            <a:srgbClr val="0B2E33"/>
          </a:solidFill>
          <a:ln/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B8D5C-7A60-3D60-945A-506BDDEE9729}"/>
              </a:ext>
            </a:extLst>
          </p:cNvPr>
          <p:cNvSpPr txBox="1"/>
          <p:nvPr/>
        </p:nvSpPr>
        <p:spPr>
          <a:xfrm>
            <a:off x="845050" y="2967486"/>
            <a:ext cx="199682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IN" sz="3200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CODE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48C0C-BC16-9C35-895B-13FFEC482768}"/>
              </a:ext>
            </a:extLst>
          </p:cNvPr>
          <p:cNvSpPr txBox="1"/>
          <p:nvPr/>
        </p:nvSpPr>
        <p:spPr>
          <a:xfrm>
            <a:off x="4350825" y="1948614"/>
            <a:ext cx="60945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</a:t>
            </a:r>
            <a:endParaRPr lang="en-US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Translates intermediate code into machine instructions.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Allocates CPU registers.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Selects appropriate machine instructions.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Generates executable target code.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86D18F-97BA-40B6-6715-E4652501D2BE}"/>
              </a:ext>
            </a:extLst>
          </p:cNvPr>
          <p:cNvSpPr txBox="1"/>
          <p:nvPr/>
        </p:nvSpPr>
        <p:spPr>
          <a:xfrm>
            <a:off x="5252711" y="4751689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EXAMPLE:</a:t>
            </a:r>
          </a:p>
          <a:p>
            <a:r>
              <a:rPr lang="en-IN" dirty="0"/>
              <a:t>MOV R1, c</a:t>
            </a:r>
          </a:p>
          <a:p>
            <a:r>
              <a:rPr lang="en-IN" dirty="0"/>
              <a:t>SHL R1, 1</a:t>
            </a:r>
          </a:p>
          <a:p>
            <a:r>
              <a:rPr lang="en-IN" dirty="0"/>
              <a:t>ADD R1, b</a:t>
            </a:r>
          </a:p>
          <a:p>
            <a:r>
              <a:rPr lang="en-IN" dirty="0"/>
              <a:t>MOV a, R1</a:t>
            </a:r>
          </a:p>
        </p:txBody>
      </p:sp>
    </p:spTree>
    <p:extLst>
      <p:ext uri="{BB962C8B-B14F-4D97-AF65-F5344CB8AC3E}">
        <p14:creationId xmlns:p14="http://schemas.microsoft.com/office/powerpoint/2010/main" val="171934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476C80FC-4DD7-0D08-7A19-9C508A1FD20D}"/>
              </a:ext>
            </a:extLst>
          </p:cNvPr>
          <p:cNvSpPr/>
          <p:nvPr/>
        </p:nvSpPr>
        <p:spPr>
          <a:xfrm>
            <a:off x="0" y="0"/>
            <a:ext cx="3566160" cy="6858000"/>
          </a:xfrm>
          <a:prstGeom prst="roundRect">
            <a:avLst/>
          </a:prstGeom>
          <a:solidFill>
            <a:srgbClr val="0B2E33"/>
          </a:solidFill>
          <a:ln/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035577-1EA7-F8D2-5268-7799D258358B}"/>
              </a:ext>
            </a:extLst>
          </p:cNvPr>
          <p:cNvSpPr txBox="1"/>
          <p:nvPr/>
        </p:nvSpPr>
        <p:spPr>
          <a:xfrm>
            <a:off x="860053" y="3183148"/>
            <a:ext cx="184605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</a:p>
          <a:p>
            <a:r>
              <a:rPr lang="en-US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</a:rPr>
              <a:t>CONCLUSION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457D4-3BB4-43E3-1A1F-C68EADC1AA46}"/>
              </a:ext>
            </a:extLst>
          </p:cNvPr>
          <p:cNvSpPr txBox="1"/>
          <p:nvPr/>
        </p:nvSpPr>
        <p:spPr>
          <a:xfrm>
            <a:off x="3961681" y="1065709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Lexical Analysis – Converts the source code into tokens.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Syntax Analysis – Checks the grammatical structure and builds a parse tree.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Semantic Analysis – Verifies the meaning, data types, and variable declarations.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Intermediate Code Generation – Produces machine-independent intermediate code.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Code Optimization – Improves the intermediate code for better performance without changing the output.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Code Generation – Converts the optimized code into machine or assembly code.</a:t>
            </a:r>
          </a:p>
        </p:txBody>
      </p:sp>
    </p:spTree>
    <p:extLst>
      <p:ext uri="{BB962C8B-B14F-4D97-AF65-F5344CB8AC3E}">
        <p14:creationId xmlns:p14="http://schemas.microsoft.com/office/powerpoint/2010/main" val="3431642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700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661</Words>
  <Application>Microsoft Office PowerPoint</Application>
  <PresentationFormat>Widescreen</PresentationFormat>
  <Paragraphs>146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 charan</cp:lastModifiedBy>
  <cp:revision>7</cp:revision>
  <dcterms:created xsi:type="dcterms:W3CDTF">2026-07-28T03:26:32Z</dcterms:created>
  <dcterms:modified xsi:type="dcterms:W3CDTF">2026-07-30T06:25:05Z</dcterms:modified>
</cp:coreProperties>
</file>